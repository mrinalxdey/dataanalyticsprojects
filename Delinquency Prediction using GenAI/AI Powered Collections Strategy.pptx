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78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020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876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55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593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553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179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78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33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45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725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4847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05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211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383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251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33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06236-3278-48CA-8890-EB9144FC17C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E293D-CC48-4322-8A95-AFB9DC9AB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47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D313-163D-B084-A9FF-094935162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9574" y="1122363"/>
            <a:ext cx="8298425" cy="2133599"/>
          </a:xfrm>
        </p:spPr>
        <p:txBody>
          <a:bodyPr/>
          <a:lstStyle/>
          <a:p>
            <a:r>
              <a:rPr lang="en-US" dirty="0"/>
              <a:t>AI Powered Collections Strategy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27E71-A8A9-EB3F-A07C-F2096276F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9574" y="3602038"/>
            <a:ext cx="8298425" cy="1655762"/>
          </a:xfrm>
        </p:spPr>
        <p:txBody>
          <a:bodyPr/>
          <a:lstStyle/>
          <a:p>
            <a:r>
              <a:rPr lang="en-US" dirty="0"/>
              <a:t>Leveraging Agentic AI for Scalable, Fair, and Effective Debt Management at Geldium | 2026</a:t>
            </a:r>
          </a:p>
        </p:txBody>
      </p:sp>
    </p:spTree>
    <p:extLst>
      <p:ext uri="{BB962C8B-B14F-4D97-AF65-F5344CB8AC3E}">
        <p14:creationId xmlns:p14="http://schemas.microsoft.com/office/powerpoint/2010/main" val="218987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2CA9D-48A9-33C6-D3C4-36777CF0E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683" y="756170"/>
            <a:ext cx="9680727" cy="649843"/>
          </a:xfrm>
        </p:spPr>
        <p:txBody>
          <a:bodyPr/>
          <a:lstStyle/>
          <a:p>
            <a:r>
              <a:rPr lang="en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How the System Works</a:t>
            </a:r>
            <a:endParaRPr lang="en-IN" dirty="0">
              <a:solidFill>
                <a:schemeClr val="tx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B2750-91F2-D327-3D09-20455C16F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683" y="1779638"/>
            <a:ext cx="9680728" cy="422787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 (The Data):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 collect a holistic view of the customer, including static demographics (Age, Employment Status), financial health metrics (DTI Ratio, Income, Credit Utilization), and temporal behavior (6-month repayment history).</a:t>
            </a:r>
          </a:p>
          <a:p>
            <a:pPr algn="just"/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Logic (The Brain):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uses a hybrid approach. It generates a predictive risk probability using our Random Forest model, and then applies a strict business rule (a customized 15% risk threshold) to determine if an account needs intervention.</a:t>
            </a:r>
          </a:p>
          <a:p>
            <a:pPr algn="just"/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Actions (The Intervention):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the risk score, the system triggers dynamic interventions. This ranges from automated SMS payment reminders and tailored hardship restructuring offers, to routing complex, high-risk cases to human underwriters.</a:t>
            </a:r>
          </a:p>
          <a:p>
            <a:pPr algn="just"/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(The Optimization):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continuously improves by tracking 90-day customer outcomes (e.g., successful repayment vs. default). It measures the success rate of specific outreach channels and feeds this outcome data back in to update the model's predictive weights.</a:t>
            </a:r>
          </a:p>
        </p:txBody>
      </p:sp>
    </p:spTree>
    <p:extLst>
      <p:ext uri="{BB962C8B-B14F-4D97-AF65-F5344CB8AC3E}">
        <p14:creationId xmlns:p14="http://schemas.microsoft.com/office/powerpoint/2010/main" val="1661445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58B0-4253-2021-4BCD-7D1FAA23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61452"/>
            <a:ext cx="9905998" cy="97430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Geldium Ai Collection Workflow</a:t>
            </a:r>
            <a:endParaRPr lang="en-IN" dirty="0">
              <a:solidFill>
                <a:schemeClr val="tx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308D62F-64D7-258F-A422-870105B05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08" y="1782456"/>
            <a:ext cx="7662608" cy="4300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6751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22986-DA56-41CF-B9F2-BB15883E4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618518"/>
            <a:ext cx="10011091" cy="956282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Role of Agentic AI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2DDDF-F586-F843-5120-D48E1BDB6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1574801"/>
            <a:ext cx="10011091" cy="5486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Maximizing operational scale while maintaining human-centric oversight.</a:t>
            </a:r>
            <a:endParaRPr lang="en-IN" sz="20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7A5486-5E7F-68F4-E4A7-17F1EEB0C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299237"/>
              </p:ext>
            </p:extLst>
          </p:nvPr>
        </p:nvGraphicFramePr>
        <p:xfrm>
          <a:off x="1263330" y="2123440"/>
          <a:ext cx="9905998" cy="4024382"/>
        </p:xfrm>
        <a:graphic>
          <a:graphicData uri="http://schemas.openxmlformats.org/drawingml/2006/table">
            <a:tbl>
              <a:tblPr/>
              <a:tblGrid>
                <a:gridCol w="4952999">
                  <a:extLst>
                    <a:ext uri="{9D8B030D-6E8A-4147-A177-3AD203B41FA5}">
                      <a16:colId xmlns:a16="http://schemas.microsoft.com/office/drawing/2014/main" val="2555767510"/>
                    </a:ext>
                  </a:extLst>
                </a:gridCol>
                <a:gridCol w="4952999">
                  <a:extLst>
                    <a:ext uri="{9D8B030D-6E8A-4147-A177-3AD203B41FA5}">
                      <a16:colId xmlns:a16="http://schemas.microsoft.com/office/drawing/2014/main" val="533385664"/>
                    </a:ext>
                  </a:extLst>
                </a:gridCol>
              </a:tblGrid>
              <a:tr h="43344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Autonomous (AI Agents)</a:t>
                      </a:r>
                      <a:endParaRPr lang="en-IN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67676" marR="67676" marT="90235" marB="9023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Human Oversight (Human-in-the-Loop)</a:t>
                      </a:r>
                      <a:endParaRPr lang="en-IN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67676" marR="67676" marT="90235" marB="9023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097659"/>
                  </a:ext>
                </a:extLst>
              </a:tr>
              <a:tr h="892398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Real-time Risk Ingestion:</a:t>
                      </a: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 Automatically monitoring DTI shifts and credit score changes 24/7.</a:t>
                      </a:r>
                    </a:p>
                  </a:txBody>
                  <a:tcPr marL="67676" marR="67676" marT="90235" marB="9023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High-Risk Deep Dives:</a:t>
                      </a: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 Manual investigation of "High-Score Delinquents" to identify sudden life shocks.</a:t>
                      </a:r>
                    </a:p>
                  </a:txBody>
                  <a:tcPr marL="67676" marR="67676" marT="90235" marB="9023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017263"/>
                  </a:ext>
                </a:extLst>
              </a:tr>
              <a:tr h="892398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Tier-1 Outreach:</a:t>
                      </a: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 Initiating immediate SMS and Email reminders for low-to-medium risk accounts.</a:t>
                      </a:r>
                    </a:p>
                  </a:txBody>
                  <a:tcPr marL="67676" marR="67676" marT="90235" marB="9023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Complex Negotiations:</a:t>
                      </a: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 Direct human intervention for customized hardship plans and large-balance settlements.</a:t>
                      </a:r>
                    </a:p>
                  </a:txBody>
                  <a:tcPr marL="67676" marR="67676" marT="90235" marB="9023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399397"/>
                  </a:ext>
                </a:extLst>
              </a:tr>
              <a:tr h="892398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Standardized Offers:</a:t>
                      </a: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 Generating and sending pre-approved hardship templates based on financial metrics.</a:t>
                      </a:r>
                    </a:p>
                  </a:txBody>
                  <a:tcPr marL="67676" marR="67676" marT="90235" marB="9023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Final Restructuring Approval:</a:t>
                      </a: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 Human authorization for any significant changes to loan terms or interest rates.</a:t>
                      </a:r>
                    </a:p>
                  </a:txBody>
                  <a:tcPr marL="67676" marR="67676" marT="90235" marB="9023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278580"/>
                  </a:ext>
                </a:extLst>
              </a:tr>
              <a:tr h="892398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Outcome Tracking:</a:t>
                      </a: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 Logging repayment results and automatically updating the model’s weights.</a:t>
                      </a:r>
                    </a:p>
                  </a:txBody>
                  <a:tcPr marL="67676" marR="67676" marT="90235" marB="9023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Ethical &amp; Bias Auditing:</a:t>
                      </a: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 Reviewing model performance to ensure fairness and compliance with lending laws.</a:t>
                      </a:r>
                    </a:p>
                  </a:txBody>
                  <a:tcPr marL="67676" marR="67676" marT="90235" marB="9023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670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058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F07A-E234-B6B1-7383-8CEEC9F49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81402"/>
          </a:xfrm>
        </p:spPr>
        <p:txBody>
          <a:bodyPr/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Responsible AI Guardrails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A678D-695F-0D18-4EFF-2F842F1FE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99920"/>
            <a:ext cx="9905999" cy="38912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Algorithmic Fairness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We remove geographic proxies (like Location) to prevent redlining and apply debiasing techniques to ensure fair treatment across demographics.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Explainability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Our transparent model allows us to extract the exact logic behind every decision, enabling us to legally generate clear "Adverse Action Notices". 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Regulatory Compliance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Built-in fairness audits guarantee continuous adherence to fair lending laws, such as the Equal Credit Opportunity Act. 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Oversight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AI handles early warnings, but human underwriters are required to authorize all final loan modifications and complex hardship approvals.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893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192F9-2128-EE41-15E1-8A152BD2581A}"/>
              </a:ext>
            </a:extLst>
          </p:cNvPr>
          <p:cNvSpPr/>
          <p:nvPr/>
        </p:nvSpPr>
        <p:spPr>
          <a:xfrm>
            <a:off x="1141413" y="1863406"/>
            <a:ext cx="9905998" cy="41106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BDB47-83F8-C3C4-0AE9-53315DDF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Expected Business Impact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33AE0A-C3DD-5CDD-BB5B-239FC30DF305}"/>
              </a:ext>
            </a:extLst>
          </p:cNvPr>
          <p:cNvSpPr/>
          <p:nvPr/>
        </p:nvSpPr>
        <p:spPr>
          <a:xfrm>
            <a:off x="1139825" y="1863405"/>
            <a:ext cx="9905998" cy="56483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E2B5D-2EB2-B01A-0EB2-B0E77EFE9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63406"/>
            <a:ext cx="4954587" cy="41106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Quantitative Business KPIs:</a:t>
            </a:r>
          </a:p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Risk Detection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Successfully identifying and catching over 56% of actual high-risk loans early.</a:t>
            </a:r>
          </a:p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Protection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Proactively flagging vulnerable accounts to prevent future financial loss. </a:t>
            </a:r>
          </a:p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Efficiency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Drastically lowering costs by shifting from funding bad loans to conducting targeted, low-cost manual reviews.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3E1847-D7F0-CE64-7E9C-1F67E756A228}"/>
              </a:ext>
            </a:extLst>
          </p:cNvPr>
          <p:cNvSpPr txBox="1">
            <a:spLocks/>
          </p:cNvSpPr>
          <p:nvPr/>
        </p:nvSpPr>
        <p:spPr>
          <a:xfrm>
            <a:off x="6094412" y="1863407"/>
            <a:ext cx="4954587" cy="3744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Quantitative </a:t>
            </a:r>
            <a:r>
              <a:rPr lang="en-IN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Outcomes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Fairer Treatment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Ensuring unbiased evaluations by completely dropping unfair socioeconomic proxies, like geographic location. </a:t>
            </a:r>
          </a:p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Transparency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Providing clear, understandable reasons for credit decisions through mandated "Adverse Action Notices". </a:t>
            </a:r>
          </a:p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Empowerment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Giving customers the specific feedback they need to proactively improve their financial health.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D32E8A-4813-FA4D-E8CC-98DB8748584F}"/>
              </a:ext>
            </a:extLst>
          </p:cNvPr>
          <p:cNvCxnSpPr>
            <a:cxnSpLocks/>
            <a:stCxn id="7" idx="2"/>
            <a:endCxn id="6" idx="2"/>
          </p:cNvCxnSpPr>
          <p:nvPr/>
        </p:nvCxnSpPr>
        <p:spPr>
          <a:xfrm>
            <a:off x="6092824" y="2428240"/>
            <a:ext cx="1588" cy="354584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C5F212-BD38-6BB8-8880-112B145590CE}"/>
              </a:ext>
            </a:extLst>
          </p:cNvPr>
          <p:cNvCxnSpPr>
            <a:stCxn id="7" idx="0"/>
            <a:endCxn id="7" idx="2"/>
          </p:cNvCxnSpPr>
          <p:nvPr/>
        </p:nvCxnSpPr>
        <p:spPr>
          <a:xfrm>
            <a:off x="6092824" y="1863405"/>
            <a:ext cx="0" cy="564835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45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74FF39-DFA3-EE7A-E9EC-CA4A97355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9512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rial Black" panose="020B0A04020102020204" pitchFamily="34" charset="0"/>
              </a:rPr>
              <a:t>Questions?</a:t>
            </a:r>
            <a:endParaRPr lang="en-IN" sz="54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838A7-AE03-498E-7F0A-3F294337A35F}"/>
              </a:ext>
            </a:extLst>
          </p:cNvPr>
          <p:cNvSpPr txBox="1"/>
          <p:nvPr/>
        </p:nvSpPr>
        <p:spPr>
          <a:xfrm>
            <a:off x="2878772" y="3599645"/>
            <a:ext cx="6431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Geldium AI Collections Strategy Team</a:t>
            </a:r>
          </a:p>
          <a:p>
            <a:pPr algn="ctr"/>
            <a:r>
              <a:rPr lang="en-IN" dirty="0"/>
              <a:t>and</a:t>
            </a:r>
          </a:p>
          <a:p>
            <a:pPr algn="ctr"/>
            <a:r>
              <a:rPr lang="en-IN" dirty="0"/>
              <a:t>Data Analysis Team</a:t>
            </a:r>
          </a:p>
        </p:txBody>
      </p:sp>
    </p:spTree>
    <p:extLst>
      <p:ext uri="{BB962C8B-B14F-4D97-AF65-F5344CB8AC3E}">
        <p14:creationId xmlns:p14="http://schemas.microsoft.com/office/powerpoint/2010/main" val="443832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71</TotalTime>
  <Words>575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Century Gothic</vt:lpstr>
      <vt:lpstr>Google Sans Text</vt:lpstr>
      <vt:lpstr>Circuit</vt:lpstr>
      <vt:lpstr>AI Powered Collections Strategy</vt:lpstr>
      <vt:lpstr>How the System Works</vt:lpstr>
      <vt:lpstr>Geldium Ai Collection Workflow</vt:lpstr>
      <vt:lpstr>Role of Agentic AI</vt:lpstr>
      <vt:lpstr>Responsible AI Guardrails</vt:lpstr>
      <vt:lpstr>Expected Business Impact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Mrinal Dey</dc:creator>
  <cp:lastModifiedBy>Mrinal Dey</cp:lastModifiedBy>
  <cp:revision>24</cp:revision>
  <dcterms:created xsi:type="dcterms:W3CDTF">2026-05-07T06:59:06Z</dcterms:created>
  <dcterms:modified xsi:type="dcterms:W3CDTF">2026-05-07T08:10:47Z</dcterms:modified>
</cp:coreProperties>
</file>